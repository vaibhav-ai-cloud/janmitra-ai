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1 - COVER</a:t>
            </a:r>
          </a:p>
          <a:p>
            <a:r>
              <a:t>Open with silence. Let the design speak.</a:t>
            </a:r>
          </a:p>
          <a:p>
            <a:r>
              <a:t>Say: JanMitra AI is not a student project. It is a production-ready AI platform for 1.4 billion citizens, built for the Google Cloud Build with AI hackathon.</a:t>
            </a:r>
          </a:p>
          <a:p>
            <a:r>
              <a:t>Pause 5 seconds.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2 - PROBLEM</a:t>
            </a:r>
          </a:p>
          <a:p>
            <a:r>
              <a:t>Tell a story. A farmer in Bihar. A broken road. 40+ days. No update.</a:t>
            </a:r>
          </a:p>
          <a:p>
            <a:r>
              <a:t>Pause on Rs42,000 crore. That number lands.</a:t>
            </a:r>
          </a:p>
          <a:p>
            <a:r>
              <a:t>MPs receive letters in physical form. No AI, no data, no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3 - BROKEN WORKFLOW</a:t>
            </a:r>
          </a:p>
          <a:p>
            <a:r>
              <a:t>This is the before state. Paint a picture of frustration.</a:t>
            </a:r>
          </a:p>
          <a:p>
            <a:r>
              <a:t>Every step in red/orange = pain. No AI anywhere in the chain.</a:t>
            </a:r>
          </a:p>
          <a:p>
            <a:r>
              <a:t>JanMitra AI replaces this entire workflow with one intelligent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4 - SOLUTION</a:t>
            </a:r>
          </a:p>
          <a:p>
            <a:r>
              <a:t>JanMitra AI is the single intelligent layer on top of India Stack.</a:t>
            </a:r>
          </a:p>
          <a:p>
            <a:r>
              <a:t>Gemini handles NLP, classification, recommendations.</a:t>
            </a:r>
          </a:p>
          <a:p>
            <a:r>
              <a:t>From 45-day average to under 6 days. That is the value proposition.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5 - ARCHITECTURE</a:t>
            </a:r>
          </a:p>
          <a:p>
            <a:r>
              <a:t>This is a Google Cloud native stack.</a:t>
            </a:r>
          </a:p>
          <a:p>
            <a:r>
              <a:t>Gemini 1.5 Pro handles all AI tasks - classification, RAG, recommendations.</a:t>
            </a:r>
          </a:p>
          <a:p>
            <a:r>
              <a:t>Cloud Run provides auto-scaling to millions of users.</a:t>
            </a:r>
          </a:p>
          <a:p>
            <a:r>
              <a:t>Highlight the Google Cloud layer - judges want to see cloud-native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6 - FEATURES</a:t>
            </a:r>
          </a:p>
          <a:p>
            <a:r>
              <a:t>12 features in a clean 4x3 grid.</a:t>
            </a:r>
          </a:p>
          <a:p>
            <a:r>
              <a:t>Emphasis: Gemini chatbot, Voice AI, Geo-Intelligence, Scheme Discovery - these are the WOW moments.</a:t>
            </a:r>
          </a:p>
          <a:p>
            <a:r>
              <a:t>Say: Every feature is AI-native. Not bolted on. Built from day one with Gemini.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7 - CITIZEN JOURNEY</a:t>
            </a:r>
          </a:p>
          <a:p>
            <a:r>
              <a:t>Walk through the 10 steps. Steps 4 and 5 are AI - Gemini classifies in under 2 seconds.</a:t>
            </a:r>
          </a:p>
          <a:p>
            <a:r>
              <a:t>Step 7 - MP sees it in real-time on their dashboard. This is the breakthrough.</a:t>
            </a:r>
          </a:p>
          <a:p>
            <a:r>
              <a:t>From file-and-forget to fully transparent AI-powered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8 - MP DASHBOARD</a:t>
            </a:r>
          </a:p>
          <a:p>
            <a:r>
              <a:t>This is the unique differentiator. No other Indian platform gives MPs real-time AI analytics.</a:t>
            </a:r>
          </a:p>
          <a:p>
            <a:r>
              <a:t>The heatmap shows exactly which wards have the most issues.</a:t>
            </a:r>
          </a:p>
          <a:p>
            <a:r>
              <a:t>MP can now make data-driven budget decisions instead of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9 - AI INTELLIGENCE</a:t>
            </a:r>
          </a:p>
          <a:p>
            <a:r>
              <a:t>Gemini 1.5 Pro is the brain. Everything flows through it.</a:t>
            </a:r>
          </a:p>
          <a:p>
            <a:r>
              <a:t>8 AI capabilities, all working simultaneously.</a:t>
            </a:r>
          </a:p>
          <a:p>
            <a:r>
              <a:t>Key numbers: 94% NLP accuracy, &lt;2s response, 12+ Indian languages via Whisper.</a:t>
            </a:r>
          </a:p>
          <a:p>
            <a:r>
              <a:t>This is what separates us from any existing government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10 - TECH STACK</a:t>
            </a:r>
          </a:p>
          <a:p>
            <a:r>
              <a:t>Every technology is enterprise-grade and Google Cloud integrated.</a:t>
            </a:r>
          </a:p>
          <a:p>
            <a:r>
              <a:t>Vertex AI + Gemini is the AI layer. Cloud Run provides auto-scaling.</a:t>
            </a:r>
          </a:p>
          <a:p>
            <a:r>
              <a:t>Note: FastAPI is async Python - 3x faster than Django for this workload.</a:t>
            </a:r>
          </a:p>
          <a:p>
            <a:r>
              <a:t>Cloud Armor WAF provides government-grade security at the 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11 - SECURITY</a:t>
            </a:r>
          </a:p>
          <a:p>
            <a:r>
              <a:t>This slide proves enterprise readiness.</a:t>
            </a:r>
          </a:p>
          <a:p>
            <a:r>
              <a:t>Cloud Armor WAF + Cloud DLP shows Google Cloud native security posture.</a:t>
            </a:r>
          </a:p>
          <a:p>
            <a:r>
              <a:t>Data sovereignty: all data in Indian region. Government can verify control.</a:t>
            </a:r>
          </a:p>
          <a:p>
            <a:r>
              <a:t>DPDP Act 2023 compliance is critical for any government contract in India.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12 - IMPACT</a:t>
            </a:r>
          </a:p>
          <a:p>
            <a:r>
              <a:t>Lead with the numbers. 73% faster resolution. 94% AI accuracy. Rs42K crore welfare gap.</a:t>
            </a:r>
          </a:p>
          <a:p>
            <a:r>
              <a:t>Four stakeholder groups: every stakeholder wins with JanMitra AI.</a:t>
            </a:r>
          </a:p>
          <a:p>
            <a:r>
              <a:t>SDG 16 alignment: this is fundable by World Bank, UNDP and Google.org.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13 - ROADMAP</a:t>
            </a:r>
          </a:p>
          <a:p>
            <a:r>
              <a:t>Phase 1 is live. This is not vaporware.</a:t>
            </a:r>
          </a:p>
          <a:p>
            <a:r>
              <a:t>Phase 2: 5 state partnerships. Google Cloud credits can accelerate this.</a:t>
            </a:r>
          </a:p>
          <a:p>
            <a:r>
              <a:t>Phase 4: Global export. 20+ countries have the same governance gap.</a:t>
            </a:r>
          </a:p>
          <a:p>
            <a:r>
              <a:t>Ask: Who else is building an AI governance OS for the developing world? Nobody.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14 - COMPETITIVE ADVANTAGE</a:t>
            </a:r>
          </a:p>
          <a:p>
            <a:r>
              <a:t>The table tells the story. CPGRAMS has zero AI. Manual workflow has zero AI.</a:t>
            </a:r>
          </a:p>
          <a:p>
            <a:r>
              <a:t>JanMitra AI is the only platform with all 10 capabilities simultaneously.</a:t>
            </a:r>
          </a:p>
          <a:p>
            <a:r>
              <a:t>Key line: We are the only platform where a farmer in Bihar can speak in Bhojpuri and get connected to PM Kisan in under 3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15 - THANK YOU / CLOSE</a:t>
            </a:r>
          </a:p>
          <a:p>
            <a:r>
              <a:t>Let this slide breathe. 10 seconds of silence.</a:t>
            </a:r>
          </a:p>
          <a:p>
            <a:r>
              <a:t>Say: JanMitra AI is not a hackathon submission. It is India first AI governance platform.</a:t>
            </a:r>
          </a:p>
          <a:p>
            <a:r>
              <a:t>We are asking for one thing: let us deploy it to 5 real constituencies.</a:t>
            </a:r>
          </a:p>
          <a:p>
            <a:r>
              <a:t>Then sit down. Smile. You have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64008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80215" y="0"/>
            <a:ext cx="411480" cy="685800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457200"/>
            <a:ext cx="10972800" cy="6126480"/>
          </a:xfrm>
          <a:prstGeom prst="roundRect">
            <a:avLst/>
          </a:prstGeom>
          <a:solidFill>
            <a:srgbClr val="102042"/>
          </a:solidFill>
          <a:ln w="12700">
            <a:solidFill>
              <a:srgbClr val="1E3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" y="-228600"/>
            <a:ext cx="2286000" cy="2286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0" y="3657600"/>
            <a:ext cx="1828800" cy="18288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458200" y="685800"/>
            <a:ext cx="1371600" cy="13716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594360"/>
            <a:ext cx="3200400" cy="384048"/>
          </a:xfrm>
          <a:prstGeom prst="roundRect">
            <a:avLst/>
          </a:prstGeom>
          <a:solidFill>
            <a:srgbClr val="050918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126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6126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4335"/>
                </a:solidFill>
              </a:rPr>
              <a:t>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0744" y="6126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C04"/>
                </a:solidFill>
              </a:rP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6776" y="6126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285F4"/>
                </a:solidFill>
              </a:rPr>
              <a:t>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8" y="6126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D88"/>
                </a:solidFill>
              </a:rPr>
              <a:t>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612648"/>
            <a:ext cx="256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4335"/>
                </a:solidFill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63093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 Cloud  x  Build with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078992"/>
            <a:ext cx="5029200" cy="292608"/>
          </a:xfrm>
          <a:prstGeom prst="roundRect">
            <a:avLst/>
          </a:prstGeom>
          <a:solidFill>
            <a:srgbClr val="050918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1106424"/>
            <a:ext cx="4809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D4FF"/>
                </a:solidFill>
              </a:rPr>
              <a:t>Code for Communities  |  People Priorities Track  |  AI for Constituency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508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JanMitra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3063240"/>
            <a:ext cx="3931920" cy="4572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004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D4FF"/>
                </a:solidFill>
              </a:rPr>
              <a:t>AI-Powered Digital Governance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587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890BB"/>
                </a:solidFill>
              </a:rPr>
              <a:t>Empowering Citizens. Enabling MPs. Transforming Governance.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434840"/>
            <a:ext cx="2194560" cy="86868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5FF"/>
                </a:solidFill>
              </a:rPr>
              <a:t>1.4B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89204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Citizens Served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0" y="4434840"/>
            <a:ext cx="2194560" cy="86868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4480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200+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13632" y="489204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Gov Schemes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434840"/>
            <a:ext cx="2194560" cy="86868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480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D88"/>
                </a:solidFill>
              </a:rPr>
              <a:t>40+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489204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Portals Unified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40" y="4434840"/>
            <a:ext cx="2194560" cy="86868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44805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44FF"/>
                </a:solidFill>
              </a:rPr>
              <a:t>&lt; 2s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4892040"/>
            <a:ext cx="20482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AI Response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GitHub: github.com/janmitra-ai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</a:rPr>
              <a:t>Demo: janmitra.ai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40" y="54406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85FF"/>
                </a:solidFill>
              </a:rPr>
              <a:t>Track: People Priorities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Governance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1.4 billion citizens. 200+ government schemes. Yet the system is broken.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920240"/>
            <a:ext cx="2761488" cy="292608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2761488" cy="54864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2029968"/>
            <a:ext cx="347472" cy="347472"/>
          </a:xfrm>
          <a:prstGeom prst="round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29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048256"/>
            <a:ext cx="2029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355"/>
                </a:solidFill>
              </a:rPr>
              <a:t>Citizen Frustration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68880"/>
            <a:ext cx="248716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Citizens navigate 40+ disconnected portals. No single window. Language barriers. No tracking. Average wait: 45+ days.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64408" y="1920240"/>
            <a:ext cx="2761488" cy="292608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64408" y="1920240"/>
            <a:ext cx="2761488" cy="54864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01568" y="2029968"/>
            <a:ext cx="347472" cy="347472"/>
          </a:xfrm>
          <a:prstGeom prst="round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01568" y="2029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8768" y="2048256"/>
            <a:ext cx="2029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00"/>
                </a:solidFill>
              </a:rPr>
              <a:t>MP Blindspot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2468880"/>
            <a:ext cx="248716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MPs receive physical letters &amp; spreadsheets. No real-time constituency analytics. No AI prioritization. Flying blind.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1920240"/>
            <a:ext cx="2761488" cy="292608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08776" y="1920240"/>
            <a:ext cx="2761488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45936" y="2029968"/>
            <a:ext cx="347472" cy="347472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2029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2048256"/>
            <a:ext cx="2029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C00"/>
                </a:solidFill>
              </a:rPr>
              <a:t>Government Inefficiency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5936" y="2468880"/>
            <a:ext cx="248716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Manual complaint routing wastes 72+ hours. No AI classification. No SLA tracking. Rs 42,000 Cr in unclaimed welfare yearly.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53144" y="1920240"/>
            <a:ext cx="2761488" cy="292608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53144" y="1920240"/>
            <a:ext cx="2761488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90304" y="2029968"/>
            <a:ext cx="347472" cy="347472"/>
          </a:xfrm>
          <a:prstGeom prst="round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90304" y="202996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4" y="2048256"/>
            <a:ext cx="2029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44FF"/>
                </a:solidFill>
              </a:rPr>
              <a:t>Planning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2468880"/>
            <a:ext cx="248716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Zero data-driven constituency planning. No geo-intelligence. No trend analysis. Budget allocation is guesswork.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4937760"/>
            <a:ext cx="2761488" cy="102412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001768"/>
            <a:ext cx="2761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FF"/>
                </a:solidFill>
              </a:rPr>
              <a:t>73%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" y="5522976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No Digital Access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64408" y="4937760"/>
            <a:ext cx="2761488" cy="102412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64408" y="5001768"/>
            <a:ext cx="2761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3355"/>
                </a:solidFill>
              </a:rPr>
              <a:t>45+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37560" y="5522976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Days per Grievance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8776" y="4937760"/>
            <a:ext cx="2761488" cy="102412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08776" y="5001768"/>
            <a:ext cx="2761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C00"/>
                </a:solidFill>
              </a:rPr>
              <a:t>Rs42K Cr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81928" y="5522976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Unclaimed Welfare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53144" y="4937760"/>
            <a:ext cx="2761488" cy="102412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53144" y="5001768"/>
            <a:ext cx="27614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844FF"/>
                </a:solidFill>
              </a:rPr>
              <a:t>40+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26296" y="5522976"/>
            <a:ext cx="26151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Siloed Portals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BROKEN WORKFLOW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How It Works Today â€” Broken by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Every step loses time, context, and accountability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920240"/>
            <a:ext cx="14173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1417320" cy="45720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" y="199339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3355"/>
                </a:solidFill>
              </a:rPr>
              <a:t>CITIZEN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2267712"/>
            <a:ext cx="1271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Submits complaint on paper or random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4505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3355"/>
                </a:solidFill>
              </a:rPr>
              <a:t>&gt;&gt;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02536" y="3200400"/>
            <a:ext cx="14173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02536" y="3200400"/>
            <a:ext cx="1417320" cy="457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327355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7700"/>
                </a:solidFill>
              </a:rPr>
              <a:t>MP OFFICE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75688" y="3547872"/>
            <a:ext cx="1271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Receives physical letter or phone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9856" y="37307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700"/>
                </a:solidFill>
              </a:rPr>
              <a:t>&gt;&gt;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85032" y="1920240"/>
            <a:ext cx="14173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85032" y="1920240"/>
            <a:ext cx="141732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8184" y="199339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MANUAL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8184" y="2267712"/>
            <a:ext cx="1271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Staff reads, sorts manually. Days lost.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24505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C00"/>
                </a:solidFill>
              </a:rPr>
              <a:t>&gt;&gt;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67528" y="3200400"/>
            <a:ext cx="14173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367528" y="3200400"/>
            <a:ext cx="1417320" cy="457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327355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7700"/>
                </a:solidFill>
              </a:rPr>
              <a:t>PHYSICAL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3547872"/>
            <a:ext cx="1271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Complaint filed in paper folders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7307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700"/>
                </a:solidFill>
              </a:rPr>
              <a:t>&gt;&gt;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0024" y="1920240"/>
            <a:ext cx="14173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50024" y="1920240"/>
            <a:ext cx="1417320" cy="45720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23176" y="199339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3355"/>
                </a:solidFill>
              </a:rPr>
              <a:t>GOVT DEPT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23176" y="2267712"/>
            <a:ext cx="1271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Receives file after routing delays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24505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3355"/>
                </a:solidFill>
              </a:rPr>
              <a:t>&gt;&gt;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32520" y="3200400"/>
            <a:ext cx="14173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32520" y="3200400"/>
            <a:ext cx="1417320" cy="457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327355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CC00"/>
                </a:solidFill>
              </a:rPr>
              <a:t>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5672" y="3547872"/>
            <a:ext cx="1271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Manual sign-off â€” weeks of waiting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373075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CC00"/>
                </a:solidFill>
              </a:rPr>
              <a:t>&gt;&gt;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15016" y="1920240"/>
            <a:ext cx="14173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15016" y="1920240"/>
            <a:ext cx="1417320" cy="45720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88168" y="1993392"/>
            <a:ext cx="1271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3355"/>
                </a:solidFill>
              </a:rPr>
              <a:t>CITIZEN AGAIN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88168" y="2267712"/>
            <a:ext cx="12710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890BB"/>
                </a:solidFill>
              </a:rPr>
              <a:t>No update. No tracking. Often forgotten.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434840"/>
            <a:ext cx="11551615" cy="22860"/>
          </a:xfrm>
          <a:prstGeom prst="rect">
            <a:avLst/>
          </a:prstGeom>
          <a:solidFill>
            <a:srgbClr val="1E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4526280"/>
            <a:ext cx="115516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3355"/>
                </a:solidFill>
              </a:rPr>
              <a:t>Result: Average 45 days resolution time  |  Zero tracking  |  Zero accountability  |  Zero AI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4983480"/>
            <a:ext cx="2761488" cy="148132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4983480"/>
            <a:ext cx="54864" cy="1481328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07492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5FF"/>
                </a:solidFill>
              </a:rPr>
              <a:t>No Single Window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42239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Citizens juggle 40+ portals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64408" y="4983480"/>
            <a:ext cx="2761488" cy="148132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64408" y="4983480"/>
            <a:ext cx="54864" cy="1481328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01568" y="507492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844FF"/>
                </a:solidFill>
              </a:rPr>
              <a:t>No AI Triage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01568" y="542239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Manual classification only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08776" y="4983480"/>
            <a:ext cx="2761488" cy="148132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08776" y="4983480"/>
            <a:ext cx="54864" cy="1481328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507492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355"/>
                </a:solidFill>
              </a:rPr>
              <a:t>No Real-Time Data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45936" y="542239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MPs have zero live view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53144" y="4983480"/>
            <a:ext cx="2761488" cy="148132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53144" y="4983480"/>
            <a:ext cx="54864" cy="148132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0304" y="507492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700"/>
                </a:solidFill>
              </a:rPr>
              <a:t>No Accountability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0304" y="5422392"/>
            <a:ext cx="24871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No SLA. No escalation.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JanMitra AI â€” One Platform. Total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AI-native governance platform designed for India's 1.4 billion citizens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0C1733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554480"/>
            <a:ext cx="338328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737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D4FF"/>
                </a:solidFill>
              </a:rPr>
              <a:t>[JM]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JanMitra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004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90BB"/>
                </a:solidFill>
              </a:rPr>
              <a:t>Google Gemini + Cloud Run
PostgreSQL + Qdrant Vector DB
Next.js + FastAPI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407408"/>
            <a:ext cx="2468880" cy="347472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444398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LIVE ON GOOGLE CLOUD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1691640"/>
            <a:ext cx="3794760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1691640"/>
            <a:ext cx="54864" cy="123444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17830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5FF"/>
                </a:solidFill>
              </a:rPr>
              <a:t>AI Chatbot Assistant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214884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90BB"/>
                </a:solidFill>
              </a:rPr>
              <a:t>Gemini-powered Q&amp;A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103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5FF"/>
                </a:solidFill>
              </a:rPr>
              <a:t>&gt;&gt;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108960"/>
            <a:ext cx="3794760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108960"/>
            <a:ext cx="54864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2004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Smart Prioritization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5661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90BB"/>
                </a:solidFill>
              </a:rPr>
              <a:t>NLP urgency ranking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5204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&gt;&gt;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4526280"/>
            <a:ext cx="3794760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4526280"/>
            <a:ext cx="54864" cy="1234440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177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D88"/>
                </a:solidFill>
              </a:rPr>
              <a:t>Voice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98348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90BB"/>
                </a:solidFill>
              </a:rPr>
              <a:t>Whisper STT, 12+ languages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9377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D88"/>
                </a:solidFill>
              </a:rPr>
              <a:t>&gt;&gt;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74152" y="1691640"/>
            <a:ext cx="3794760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14048" y="1691640"/>
            <a:ext cx="54864" cy="123444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1783080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44FF"/>
                </a:solidFill>
              </a:rPr>
              <a:t>Geo-Intelligence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148840"/>
            <a:ext cx="3456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90BB"/>
                </a:solidFill>
              </a:rPr>
              <a:t>Complaint heatmaps &amp; mapping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21031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44FF"/>
                </a:solidFill>
              </a:rPr>
              <a:t>&lt;&lt;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4152" y="3108960"/>
            <a:ext cx="3794760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814048" y="3108960"/>
            <a:ext cx="54864" cy="123444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3200400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700"/>
                </a:solidFill>
              </a:rPr>
              <a:t>Scheme Discovery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3566160"/>
            <a:ext cx="3456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90BB"/>
                </a:solidFill>
              </a:rPr>
              <a:t>RAG + Gemini embedding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35204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7700"/>
                </a:solidFill>
              </a:rPr>
              <a:t>&lt;&lt;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74152" y="4526280"/>
            <a:ext cx="3794760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814048" y="4526280"/>
            <a:ext cx="54864" cy="12344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4617720"/>
            <a:ext cx="3456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Document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983480"/>
            <a:ext cx="3456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890BB"/>
                </a:solidFill>
              </a:rPr>
              <a:t>OCR + auto-extract fields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0" y="49377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&lt;&lt;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0040" y="6126480"/>
            <a:ext cx="11551615" cy="438912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199632"/>
            <a:ext cx="111858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D88"/>
                </a:solidFill>
              </a:rPr>
              <a:t>Result:  45-day resolution time   --&gt;   Under 6 days   |   AI accuracy: 94%   |   Cost reduction: 72%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 â€” Google Cloud Native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Production-grade, fully containerised, zero-trust architecture on Google Cloud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600200"/>
            <a:ext cx="11094415" cy="804672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1600200"/>
            <a:ext cx="64008" cy="8046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16550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FF"/>
                </a:solidFill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655064"/>
            <a:ext cx="743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Citizen  |  MP  |  Admin  |  Government Officials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965960"/>
            <a:ext cx="743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Web Browser  |  Mobile PWA  |  WhatsApp Bot  |  Voice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4407" y="2404872"/>
            <a:ext cx="2286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D4FF"/>
                </a:solidFill>
              </a:rPr>
              <a:t>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459736"/>
            <a:ext cx="11094415" cy="804672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59736"/>
            <a:ext cx="64008" cy="80467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51460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5FF"/>
                </a:solidFill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514600"/>
            <a:ext cx="743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Next.js 14 (App Router)  |  TypeScript  |  Tailwind CSS  |  Framer 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825496"/>
            <a:ext cx="743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Citizen Portal  |  MP Dashboard  |  Admin Panel  |  Real-Time 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4407" y="3264408"/>
            <a:ext cx="2286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85FF"/>
                </a:solidFill>
              </a:rPr>
              <a:t>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319272"/>
            <a:ext cx="11094415" cy="804672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319272"/>
            <a:ext cx="64008" cy="804672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74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44FF"/>
                </a:solidFill>
              </a:rPr>
              <a:t>API GATEWAY &amp; AUTH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374136"/>
            <a:ext cx="743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FastAPI (Python 3.11)  |  JWT Authentication  |  RBAC Middleware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685032"/>
            <a:ext cx="743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REST Endpoints  |  WebSocket  |  Rate Limiting  |  Nginx Reverse Proxy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4407" y="4123944"/>
            <a:ext cx="2286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8844FF"/>
                </a:solidFill>
              </a:rPr>
              <a:t>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78808"/>
            <a:ext cx="11094415" cy="804672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178808"/>
            <a:ext cx="64008" cy="80467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2336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85F4"/>
                </a:solidFill>
              </a:rPr>
              <a:t>GOOGLE CLOUD AI ENGINE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233672"/>
            <a:ext cx="743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Vertex AI  |  Gemini 1.5 Pro  |  Gemini Embedding API  |  Cloud Vision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44568"/>
            <a:ext cx="743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NLP Classification  |  RAG Pipeline  |  Sentiment Analysis  |  OCR Document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4407" y="4983480"/>
            <a:ext cx="2286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4285F4"/>
                </a:solidFill>
              </a:rPr>
              <a:t>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5038344"/>
            <a:ext cx="11094415" cy="804672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038344"/>
            <a:ext cx="64008" cy="804672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0932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D88"/>
                </a:solidFill>
              </a:rPr>
              <a:t>DATA &amp; VECTOR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093208"/>
            <a:ext cx="743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PostgreSQL 16 (Cloud SQL)  |  Qdrant Vector DB  |  Redis Cache  |  Cloud Storage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5404104"/>
            <a:ext cx="743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Structured Data  |  Semantic Search  |  Session Cache  |  File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4407" y="5843016"/>
            <a:ext cx="228600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DD88"/>
                </a:solidFill>
              </a:rPr>
              <a:t>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97880"/>
            <a:ext cx="11094415" cy="804672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897880"/>
            <a:ext cx="64008" cy="804672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95274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700"/>
                </a:solidFill>
              </a:rPr>
              <a:t>MONITORING &amp; DEVOPS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952744"/>
            <a:ext cx="74368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Cloud Run  |  Cloud Monitoring  |  GitHub Actions CI/CD  |  Cloud CDN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6263640"/>
            <a:ext cx="74368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Auto-scaling  |  Uptime Checks  |  Deployment Pipeline  |  Content Delivery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6492240"/>
            <a:ext cx="10908792" cy="228600"/>
          </a:xfrm>
          <a:prstGeom prst="roundRect">
            <a:avLst/>
          </a:prstGeom>
          <a:solidFill>
            <a:srgbClr val="051535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6510528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4285F4"/>
                </a:solidFill>
              </a:rPr>
              <a:t>Deployed on Google Cloud  |  Cloud Run  |  Cloud SQL  |  Vertex AI  |  Gemini API  |  Cloud Storage  |  Maps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6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PLATFORM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12 Core Platform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Three portals. One AI brain. End-to-end digital governance.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60020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600200"/>
            <a:ext cx="2761488" cy="4572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9164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85FF"/>
                </a:solidFill>
              </a:rPr>
              <a:t>[CIT]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6712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Citizen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7802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File complaints, track status,
discover schemes via voice or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4408" y="160020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64408" y="1600200"/>
            <a:ext cx="276148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169164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[MP]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216712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MP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247802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Live constituency analytics,
heatmaps, priority AI ranking.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160020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1600200"/>
            <a:ext cx="2761488" cy="45720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08776" y="169164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D88"/>
                </a:solidFill>
              </a:rPr>
              <a:t>[ADM]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45936" y="216712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Admin Panel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247802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User management, routing,
SLA control, audit logs.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3144" y="160020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53144" y="1600200"/>
            <a:ext cx="2761488" cy="4572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53144" y="169164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44FF"/>
                </a:solidFill>
              </a:rPr>
              <a:t>[AI]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216712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Chatbot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4" y="247802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Multi-turn AI assistant for
citizens &amp; government staff.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040" y="329184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3291840"/>
            <a:ext cx="2761488" cy="4572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338328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85FF"/>
                </a:solidFill>
              </a:rPr>
              <a:t>[MAP]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5876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Geo-Intelligence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16966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Complaint heatmaps, ward-level
breakdown, route optimization.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64408" y="329184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64408" y="3291840"/>
            <a:ext cx="276148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64408" y="338328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[SCH]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385876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Scheme Discovery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1568" y="416966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RAG pipeline matches citizens
to 200+ govt welfare schemes.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08776" y="329184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8776" y="3291840"/>
            <a:ext cx="2761488" cy="45720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08776" y="338328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D88"/>
                </a:solidFill>
              </a:rPr>
              <a:t>[VOC]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385876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Voice AI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416966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Whisper STT in 12+ Indian
languages. Full accessibility.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53144" y="329184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53144" y="3291840"/>
            <a:ext cx="2761488" cy="4572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3144" y="338328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7700"/>
                </a:solidFill>
              </a:rPr>
              <a:t>[DOC]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90304" y="385876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Document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416966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Cloud Vision OCR auto-extracts
form fields from images.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0040" y="498348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0040" y="4983480"/>
            <a:ext cx="2761488" cy="4572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507492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844FF"/>
                </a:solidFill>
              </a:rPr>
              <a:t>[NOT]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550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Smart Notify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586130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Real-time WhatsApp, SMS, push
alerts for every status change.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64408" y="498348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64408" y="4983480"/>
            <a:ext cx="2761488" cy="4572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64408" y="507492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85FF"/>
                </a:solidFill>
              </a:rPr>
              <a:t>[ANA]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01568" y="5550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Analytics Engine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01568" y="586130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Trend analysis, predictive
insights, export to PDF.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08776" y="498348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08776" y="4983480"/>
            <a:ext cx="2761488" cy="45720"/>
          </a:xfrm>
          <a:prstGeom prst="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08776" y="507492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3355"/>
                </a:solidFill>
              </a:rPr>
              <a:t>[SEC]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45936" y="5550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Zero-Trust Security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45936" y="586130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JWT, bcrypt, HTTPS, RBAC,
full audit trails.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53144" y="4983480"/>
            <a:ext cx="2761488" cy="157276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153144" y="4983480"/>
            <a:ext cx="2761488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53144" y="5074920"/>
            <a:ext cx="2761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D4FF"/>
                </a:solidFill>
              </a:rPr>
              <a:t>[MLG]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90304" y="5550408"/>
            <a:ext cx="2487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Multilingual UI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90304" y="5861304"/>
            <a:ext cx="248716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890BB"/>
                </a:solidFill>
              </a:rPr>
              <a:t>Hindi, Bengali, Tamil, Telugu,
Gujarati, Marathi + 6 more.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7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CITIZEN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Complete Citizen Experience â€” Step by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From complaint submission to resolution in under 6 days, powered by Gemini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8288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9768" y="1920240"/>
            <a:ext cx="329184" cy="329184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920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19202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5FF"/>
                </a:solidFill>
              </a:rPr>
              <a:t>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Sign up with phone OTP
or Google OAuth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9464" y="23362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5FF"/>
                </a:solidFill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2072" y="18288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971800" y="1920240"/>
            <a:ext cx="329184" cy="329184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1920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19202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5FF"/>
                </a:solidFill>
              </a:rPr>
              <a:t>LOGIN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9232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JWT auth + role
detection in 200ms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3362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5FF"/>
                </a:solidFill>
              </a:rP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04104" y="18288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13832" y="1920240"/>
            <a:ext cx="329184" cy="32918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2" y="1920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1" y="19202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RAISE ISSUE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Text, voice, or photo
upload interface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53528" y="23362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46136" y="18288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55864" y="1920240"/>
            <a:ext cx="329184" cy="329184"/>
          </a:xfrm>
          <a:prstGeom prst="round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55864" y="1920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3" y="19202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44FF"/>
                </a:solidFill>
              </a:rPr>
              <a:t>AI CLASSIFY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83296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Gemini reads complaint.
Assigns category + dept.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95560" y="23362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44FF"/>
                </a:solidFill>
              </a:rPr>
              <a:t>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488168" y="18288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597896" y="1920240"/>
            <a:ext cx="329184" cy="329184"/>
          </a:xfrm>
          <a:prstGeom prst="round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97896" y="19202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09375" y="19202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D88"/>
                </a:solidFill>
              </a:rPr>
              <a:t>PRIORITY RANK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25328" y="22677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NLP urgency scoring.
Critical / High / 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84864" y="3108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D88"/>
                </a:solidFill>
              </a:rPr>
              <a:t>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" y="36576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29768" y="3749040"/>
            <a:ext cx="329184" cy="32918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9768" y="3749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7" y="37490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AUTO-ROUTE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0965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Routed to correct dept
in under 2 seconds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9464" y="41650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&gt;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62072" y="36576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2971800" y="3749040"/>
            <a:ext cx="329184" cy="329184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71800" y="3749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83279" y="37490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5FF"/>
                </a:solidFill>
              </a:rPr>
              <a:t>MP NOTIFIED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99232" y="40965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MP Dashboard shows
real-time alert + map pin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11496" y="41650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85FF"/>
                </a:solidFill>
              </a:rPr>
              <a:t>&gt;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04104" y="36576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513832" y="3749040"/>
            <a:ext cx="329184" cy="329184"/>
          </a:xfrm>
          <a:prstGeom prst="round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513832" y="3749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25311" y="37490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D88"/>
                </a:solidFill>
              </a:rPr>
              <a:t>ACTION TAKEN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41264" y="40965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Department field team
gets mobile notification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53528" y="41650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D88"/>
                </a:solidFill>
              </a:rPr>
              <a:t>&gt;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46136" y="36576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055864" y="3749040"/>
            <a:ext cx="329184" cy="329184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55864" y="3749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67343" y="37490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STATUS UPDATES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83296" y="40965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Citizen receives WhatsApp
&amp; push notification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95560" y="416509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&gt;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488168" y="3657600"/>
            <a:ext cx="2176272" cy="12344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597896" y="3749040"/>
            <a:ext cx="329184" cy="329184"/>
          </a:xfrm>
          <a:prstGeom prst="round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97896" y="37490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09375" y="3749040"/>
            <a:ext cx="1545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D88"/>
                </a:solidFill>
              </a:rPr>
              <a:t>RESOLVED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25328" y="4096512"/>
            <a:ext cx="1901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Case closed. Rating
collected. Analytics updated.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0040" y="5943600"/>
            <a:ext cx="11551615" cy="59436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6035040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D88"/>
                </a:solidFill>
              </a:rPr>
              <a:t>Before JanMitra AI: 45 days    --&gt;    After JanMitra AI: Under 6 days    |    94% AI classification accuracy    |    Zero manual routing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MP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MP Intelligence Dashboard â€” Real-Time Constituency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The most advanced MP analytics system ever built for Indian governance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Live Constituency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1965960"/>
            <a:ext cx="2212848" cy="100584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029968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FF"/>
                </a:solidFill>
              </a:rPr>
              <a:t>2,847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" y="2551176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Total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" y="1965960"/>
            <a:ext cx="2212848" cy="100584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029968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7700"/>
                </a:solidFill>
              </a:rPr>
              <a:t>1,204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551176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In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3081528"/>
            <a:ext cx="2212848" cy="100584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145536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D88"/>
                </a:solidFill>
              </a:rPr>
              <a:t>1,523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" y="3666744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Resolved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15768" y="3081528"/>
            <a:ext cx="2212848" cy="100584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3145536"/>
            <a:ext cx="22128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844FF"/>
                </a:solidFill>
              </a:rPr>
              <a:t>94%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3666744"/>
            <a:ext cx="20665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AI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224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Top Complaint Categories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663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Road &amp; Infrastructure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31720" y="4700016"/>
            <a:ext cx="2560320" cy="219456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56048" y="4663440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7700"/>
                </a:solidFill>
              </a:rPr>
              <a:t>72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0474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Water Supply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5084064"/>
            <a:ext cx="1955800" cy="219456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51528" y="5047488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5FF"/>
                </a:solidFill>
              </a:rPr>
              <a:t>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4315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Electricity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31720" y="5468112"/>
            <a:ext cx="1564640" cy="21945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60368" y="5431536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CC00"/>
                </a:solidFill>
              </a:rPr>
              <a:t>44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581558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Sanitation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5852160"/>
            <a:ext cx="1351280" cy="219456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7008" y="5815584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D88"/>
                </a:solidFill>
              </a:rPr>
              <a:t>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61996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Healthcare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31720" y="6236208"/>
            <a:ext cx="1031240" cy="219456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6968" y="6199632"/>
            <a:ext cx="36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844FF"/>
                </a:solidFill>
              </a:rPr>
              <a:t>29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7840" y="16002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Constituency Intelligence Feed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7840" y="1965960"/>
            <a:ext cx="6263640" cy="192024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77840" y="1993392"/>
            <a:ext cx="6263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5FF"/>
                </a:solidFill>
              </a:rPr>
              <a:t>[LIVE HEATMAP]</a:t>
            </a:r>
          </a:p>
        </p:txBody>
      </p:sp>
      <p:sp>
        <p:nvSpPr>
          <p:cNvPr id="45" name="Oval 44"/>
          <p:cNvSpPr/>
          <p:nvPr/>
        </p:nvSpPr>
        <p:spPr>
          <a:xfrm>
            <a:off x="6446520" y="1965960"/>
            <a:ext cx="822960" cy="822960"/>
          </a:xfrm>
          <a:prstGeom prst="ellipse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55280" y="2194560"/>
            <a:ext cx="548640" cy="54864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72600" y="2103120"/>
            <a:ext cx="457200" cy="45720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607040" y="2377440"/>
            <a:ext cx="365760" cy="365760"/>
          </a:xfrm>
          <a:prstGeom prst="ellipse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292339" y="2628900"/>
            <a:ext cx="411480" cy="411480"/>
          </a:xfrm>
          <a:prstGeom prst="ellipse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15000" y="3749039"/>
            <a:ext cx="5989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3355"/>
                </a:solidFill>
              </a:rPr>
              <a:t>Ward 12 - HIGH PRIORITY (34 issues)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77840" y="4041648"/>
            <a:ext cx="6263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Priority Queue â€” Top 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577840" y="4370832"/>
            <a:ext cx="6263640" cy="402336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650992" y="4434840"/>
            <a:ext cx="777240" cy="256032"/>
          </a:xfrm>
          <a:prstGeom prst="roundRect">
            <a:avLst/>
          </a:prstGeom>
          <a:solidFill>
            <a:srgbClr val="FF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50992" y="44348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4453128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AFF"/>
                </a:solidFill>
              </a:rPr>
              <a:t>Ward 12 Road Collapse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52760" y="445312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890BB"/>
                </a:solidFill>
              </a:rPr>
              <a:t>3 hrs ago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577840" y="4846320"/>
            <a:ext cx="6263640" cy="402336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650992" y="4910328"/>
            <a:ext cx="777240" cy="256032"/>
          </a:xfrm>
          <a:prstGeom prst="round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4910328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7960" y="4928616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AFF"/>
                </a:solidFill>
              </a:rPr>
              <a:t>Water contamination - Sector 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52760" y="4928616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890BB"/>
                </a:solidFill>
              </a:rPr>
              <a:t>5 hrs ago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77840" y="5321808"/>
            <a:ext cx="6263640" cy="402336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5650992" y="5385816"/>
            <a:ext cx="777240" cy="256032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50992" y="5385816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37960" y="5404104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AFF"/>
                </a:solidFill>
              </a:rPr>
              <a:t>Power outage - 8 blocks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52760" y="5404104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890BB"/>
                </a:solidFill>
              </a:rPr>
              <a:t>8 hrs ago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577840" y="5797296"/>
            <a:ext cx="6263640" cy="402336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5650992" y="5861304"/>
            <a:ext cx="777240" cy="256032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50992" y="5861304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537960" y="5879592"/>
            <a:ext cx="4114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DEAFF"/>
                </a:solidFill>
              </a:rPr>
              <a:t>Drainage overflow - Main 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52760" y="5879592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7890BB"/>
                </a:solidFill>
              </a:rPr>
              <a:t>1 day ago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AI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AI Engine â€” Powered by Google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8 intelligent capabilities working in real-time to transform governance data into action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2560320"/>
            <a:ext cx="2130552" cy="2130552"/>
          </a:xfrm>
          <a:prstGeom prst="ellipse">
            <a:avLst/>
          </a:prstGeom>
          <a:solidFill>
            <a:srgbClr val="0C1733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743200"/>
            <a:ext cx="2130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D4FF"/>
                </a:solidFill>
              </a:rPr>
              <a:t>[G]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493008"/>
            <a:ext cx="2130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Gemini 1.5 Pro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822191"/>
            <a:ext cx="21305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890BB"/>
                </a:solidFill>
              </a:rPr>
              <a:t>via Vertex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1691640"/>
            <a:ext cx="3657600" cy="128016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1691640"/>
            <a:ext cx="54864" cy="128016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" y="1783080"/>
            <a:ext cx="3310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85FF"/>
                </a:solidFill>
              </a:rPr>
              <a:t>NLP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2148840"/>
            <a:ext cx="3310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Classifies complaint text into 12 categories with 94% accuracy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200400"/>
            <a:ext cx="3657600" cy="128016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200400"/>
            <a:ext cx="54864" cy="128016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3291840"/>
            <a:ext cx="3310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Sentiment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" y="3657600"/>
            <a:ext cx="3310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Detects urgency, frustration &amp; priority signals in citizen language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4709160"/>
            <a:ext cx="3657600" cy="128016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709160"/>
            <a:ext cx="54864" cy="1280160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4800600"/>
            <a:ext cx="3310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D88"/>
                </a:solidFill>
              </a:rPr>
              <a:t>Geo-Intelligence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5166360"/>
            <a:ext cx="3310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Clusters issues by ward/constituency for heatmap visualization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691640"/>
            <a:ext cx="3657600" cy="128016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29600" y="1691640"/>
            <a:ext cx="54864" cy="128016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1783080"/>
            <a:ext cx="3310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844FF"/>
                </a:solidFill>
              </a:rPr>
              <a:t>RAG Scheme 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2148840"/>
            <a:ext cx="3310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Retrieval-augmented generation matches citizens to 200+ welfare schemes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200400"/>
            <a:ext cx="3657600" cy="128016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3200400"/>
            <a:ext cx="54864" cy="1280160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3291840"/>
            <a:ext cx="3310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7700"/>
                </a:solidFill>
              </a:rPr>
              <a:t>Voice Recognition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657600"/>
            <a:ext cx="3310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Whisper STT converts regional Indian speech to structured complaint 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4709160"/>
            <a:ext cx="3657600" cy="128016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709160"/>
            <a:ext cx="54864" cy="128016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4800600"/>
            <a:ext cx="33101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85FF"/>
                </a:solidFill>
              </a:rPr>
              <a:t>Decision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5166360"/>
            <a:ext cx="33101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Priority ranking + department routing + SLA prediction in real-time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0040" y="5943600"/>
            <a:ext cx="5760720" cy="56692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989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4285F4"/>
                </a:solidFill>
              </a:rPr>
              <a:t>[7] OCR Document AI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2362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BB"/>
                </a:solidFill>
              </a:rPr>
              <a:t>Cloud Vision API extracts text, form fields &amp; signatures from uploaded complaint images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5943600"/>
            <a:ext cx="5760720" cy="566928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59893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7700"/>
                </a:solidFill>
              </a:rPr>
              <a:t>[8] Recommendation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62362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890BB"/>
                </a:solidFill>
              </a:rPr>
              <a:t>Proactively suggests next actions, escalations &amp; scheme applications to MPs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10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Technology Stack â€” Enterprise Grade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Every technology chosen for scale, performance and Google Cloud integration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600200"/>
            <a:ext cx="3730752" cy="228600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600200"/>
            <a:ext cx="3730752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69164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5FF"/>
                </a:solidFill>
              </a:rP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10312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Next.js 14 (App Router + SSR)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45059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TypeScript â€” type-safe full-stack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279806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Tailwind CSS â€” utility-first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145536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Framer Motion â€” micro-animations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493008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Recharts â€” real-time data viz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1600200"/>
            <a:ext cx="3730752" cy="228600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1600200"/>
            <a:ext cx="37307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169164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10312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FastAPI (Python 3.11) â€” async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6552" y="245059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SQLAlchemy 2.0 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79806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Alembic â€” DB migrations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3145536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Pydantic v2 â€”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493008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WebSocket â€” live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1600200"/>
            <a:ext cx="3730752" cy="228600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80" y="1600200"/>
            <a:ext cx="3730752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2" y="169164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285F4"/>
                </a:solidFill>
              </a:rPr>
              <a:t>Google Cloud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8472" y="210312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Vertex AI â€” Gemini 1.5 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245059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Gemini Embedding API (RAG)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2" y="279806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Cloud Vision API â€” OCR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2" y="3145536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Google Maps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3493008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Speech-to-Text API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4069080"/>
            <a:ext cx="3730752" cy="228600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069080"/>
            <a:ext cx="3730752" cy="54864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416052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D88"/>
                </a:solidFill>
              </a:rPr>
              <a:t>Data &amp; Storage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457200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PostgreSQL 16 (Cloud SQL)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" y="491947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Qdrant â€” Vector Database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" y="526694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Redis 7 â€” Session Cache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" y="5614416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Cloud Storage â€” Files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" y="5961888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BigQuery â€” Analytics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60" y="4069080"/>
            <a:ext cx="3730752" cy="228600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0" y="4069080"/>
            <a:ext cx="3730752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6552" y="416052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44FF"/>
                </a:solidFill>
              </a:rPr>
              <a:t>Security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6552" y="457200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JWT (python-jose) Auth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16552" y="491947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bcrypt â€” Password Hash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16552" y="526694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HTTPS / TLS â€” Transport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16552" y="5614416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RBAC â€” 3 User Roles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16552" y="5961888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Cloud Armor â€” WAF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83880" y="4069080"/>
            <a:ext cx="3730752" cy="228600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83880" y="4069080"/>
            <a:ext cx="3730752" cy="54864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48472" y="4160520"/>
            <a:ext cx="34015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700"/>
                </a:solidFill>
              </a:rPr>
              <a:t>DevOps &amp; Cloud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8472" y="4572000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Cloud Run â€” Auto-scale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8472" y="4919472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Docker + Compose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48472" y="5266944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GitHub Actions â€” CI/CD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48472" y="5614416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Cloud Monitoring â€” APM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48472" y="5961888"/>
            <a:ext cx="3401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  Cloud CDN â€” Global Edge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6492240"/>
            <a:ext cx="11551615" cy="237744"/>
          </a:xfrm>
          <a:prstGeom prst="roundRect">
            <a:avLst/>
          </a:prstGeom>
          <a:solidFill>
            <a:srgbClr val="041232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6510528"/>
            <a:ext cx="11185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285F4"/>
                </a:solidFill>
              </a:rPr>
              <a:t>Fully deployed on Google Cloud  |  Vertex AI  |  Cloud Run  |  Cloud SQL  |  Cloud Storage  |  Maps  |  Monitoring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11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SECURITY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Zero-Trust Security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Government-grade security built into every layer â€” no compromises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600200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600200"/>
            <a:ext cx="59436" cy="1572768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85FF"/>
                </a:solidFill>
              </a:rPr>
              <a:t>[JWT] JWT Authentication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07568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python-jose HS256 signing. 30-min access
tokens. 7-day refresh. Auto-rotation.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1600200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1600200"/>
            <a:ext cx="59436" cy="1572768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D88"/>
                </a:solidFill>
              </a:rPr>
              <a:t>[BCR] bcrypt Password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07568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Cost factor 12. OWASP recommended.
Zero plaintext passwords in any layer.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1600200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1600200"/>
            <a:ext cx="59436" cy="1572768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1691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844FF"/>
                </a:solidFill>
              </a:rPr>
              <a:t>[RBC] Role-Based Access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2075688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3 roles: Citizen, MP, Admin.
FastAPI decorator guards. Granular paths.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3319272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319272"/>
            <a:ext cx="59436" cy="157276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" y="3410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4FF"/>
                </a:solidFill>
              </a:rPr>
              <a:t>[TLS] HTTPS / TLS Everywhere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37947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Nginx + Cloud Armor TLS termination.
HSTS headers. Strict CORS whitelist.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51960" y="3319272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0" y="3319272"/>
            <a:ext cx="59436" cy="1572768"/>
          </a:xfrm>
          <a:prstGeom prst="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2" y="3410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7700"/>
                </a:solidFill>
              </a:rPr>
              <a:t>[LOG] Immutable Audit Logs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37947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Every action timestamped in Cloud SQL.
Complaint history. Zero-delete policy.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319272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319272"/>
            <a:ext cx="59436" cy="157276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48472" y="34107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4285F4"/>
                </a:solidFill>
              </a:rPr>
              <a:t>[WAF] Google Cloud Armor (WAF)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8472" y="37947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DDoS protection, IP reputation,
OWASP rule sets at global edge.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0040" y="5038344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5038344"/>
            <a:ext cx="59436" cy="1572768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" y="51297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DD88"/>
                </a:solidFill>
              </a:rPr>
              <a:t>[SOV] Data Sovereignty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" y="551383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All data in Indian region Cloud SQL.
Gemini processes only anonymised text.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5038344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51960" y="5038344"/>
            <a:ext cx="59436" cy="1572768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51297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844FF"/>
                </a:solidFill>
              </a:rPr>
              <a:t>[ENC] Encrypted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551383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AES-256 at rest via Cloud Storage.
TLS 1.3 in transit. Key management via KMS.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83880" y="5038344"/>
            <a:ext cx="3730752" cy="1572768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83880" y="5038344"/>
            <a:ext cx="59436" cy="1572768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48472" y="51297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85FF"/>
                </a:solidFill>
              </a:rPr>
              <a:t>[SEC] Secure File Upload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2" y="551383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DEAFF"/>
                </a:solidFill>
              </a:rPr>
              <a:t>Magic byte validation. Max 10MB.
Virus scan via Cloud DLP API.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" y="6492240"/>
            <a:ext cx="11551615" cy="237744"/>
          </a:xfrm>
          <a:prstGeom prst="roundRect">
            <a:avLst/>
          </a:prstGeom>
          <a:solidFill>
            <a:srgbClr val="00180A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510528"/>
            <a:ext cx="1118585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D88"/>
                </a:solidFill>
              </a:rPr>
              <a:t>Compliant with: MeitY Guidelines  |  CERT-In  |  IT Act 2000  |  DPDP Act 2023  |  ISO 27001 Principles  |  OWASP Top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12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MEASURABLE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Real-World Impact â€” By the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Transforming governance for citizens, MPs, government departments and the 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600200"/>
            <a:ext cx="21031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664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85FF"/>
                </a:solidFill>
              </a:rPr>
              <a:t>73%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2185416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Faster Issue
Resolution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96896" y="1600200"/>
            <a:ext cx="21031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6896" y="1664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844FF"/>
                </a:solidFill>
              </a:rPr>
              <a:t>94%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2185416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AI Classification
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3752" y="1600200"/>
            <a:ext cx="21031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2" y="1664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D88"/>
                </a:solidFill>
              </a:rPr>
              <a:t>8x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46904" y="2185416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More Schemes
Discovered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8" y="1600200"/>
            <a:ext cx="21031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1664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CC00"/>
                </a:solidFill>
              </a:rPr>
              <a:t>Rs 42K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2185416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Welfare Gap
Addressed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27464" y="1600200"/>
            <a:ext cx="2103120" cy="105156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27464" y="166420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</a:rPr>
              <a:t>&lt; 2s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0616" y="2185416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AI Response
Time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2788920"/>
            <a:ext cx="2761488" cy="365760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2788920"/>
            <a:ext cx="64008" cy="365760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288036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5FF"/>
                </a:solidFill>
              </a:rPr>
              <a:t>Citizens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3264408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Single window â€” 40+ portals unified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364845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Voice filing in 12+ Indian languages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03250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Real-time WhatsApp status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416552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AI matches them to 200+ welfare schemes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80060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Average wait: 45 days -&gt; under 6 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64408" y="2788920"/>
            <a:ext cx="2761488" cy="365760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64408" y="2788920"/>
            <a:ext cx="64008" cy="3657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288036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MPs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3264408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Live constituency analytics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29000" y="364845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AI-ranked priority queue â€” zero guesswork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403250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Ward-level heatmap and geo-clustering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4416552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Budget allocation driven by real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480060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First ever MP intelligence platform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08776" y="2788920"/>
            <a:ext cx="2761488" cy="365760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08776" y="2788920"/>
            <a:ext cx="64008" cy="3657600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3368" y="288036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D88"/>
                </a:solidFill>
              </a:rPr>
              <a:t>Government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3368" y="3264408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Auto-routing eliminates manual triage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73368" y="364845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SLA tracking and escalation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73368" y="403250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Full audit trail â€” zero corruption leaks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73368" y="4416552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Cross-department AI analytics 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3368" y="480060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72% reduction in processing cost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53144" y="2788920"/>
            <a:ext cx="2761488" cy="365760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53144" y="2788920"/>
            <a:ext cx="64008" cy="365760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17736" y="288036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44FF"/>
                </a:solidFill>
              </a:rPr>
              <a:t>Nation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17736" y="3264408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Scales to 1.4B citizens on Cloud Run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7736" y="3648456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Rs 42K Cr unclaimed welfare recovered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17736" y="4032504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SDG 16 (Justice &amp; Institutions) aligned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17736" y="4416552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Replicable across 28 states + UTs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17736" y="4800600"/>
            <a:ext cx="2487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Sets global standard for AI governance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0040" y="6510528"/>
            <a:ext cx="11551615" cy="219456"/>
          </a:xfrm>
          <a:prstGeom prst="roundRect">
            <a:avLst/>
          </a:prstGeom>
          <a:solidFill>
            <a:srgbClr val="020620"/>
          </a:solidFill>
          <a:ln w="1270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6528816"/>
            <a:ext cx="1118585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1">
                <a:solidFill>
                  <a:srgbClr val="00D4FF"/>
                </a:solidFill>
              </a:rPr>
              <a:t>"From Complaint to Action in Under 6 Days â€” Powered by Google Gemini"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FF7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From Hackathon to AI Governance OS â€” 2025 to 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Four phases. Clear milestones. Deployable at national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1600200"/>
            <a:ext cx="2761488" cy="4892040"/>
          </a:xfrm>
          <a:prstGeom prst="roundRect">
            <a:avLst/>
          </a:prstGeom>
          <a:solidFill>
            <a:srgbClr val="0C1733"/>
          </a:solidFill>
          <a:ln w="1905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600200"/>
            <a:ext cx="2761488" cy="64008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1691640"/>
            <a:ext cx="2487168" cy="274320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69164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LIVE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0391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5FF"/>
                </a:solidFill>
              </a:rP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04872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Q4 2025
Hackathon MVP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98648"/>
            <a:ext cx="2487168" cy="22860"/>
          </a:xfrm>
          <a:prstGeom prst="rect">
            <a:avLst/>
          </a:prstGeom>
          <a:solidFill>
            <a:srgbClr val="1E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Core complaint + scheme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75888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Gemini AI classification + RAG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3342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Citizen, MP &amp; Admin portals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9262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Cloud Run deployment (production)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650992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50 pilot constituencies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64408" y="1600200"/>
            <a:ext cx="2761488" cy="4892040"/>
          </a:xfrm>
          <a:prstGeom prst="roundRect">
            <a:avLst/>
          </a:prstGeom>
          <a:solidFill>
            <a:srgbClr val="0C1733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64408" y="1600200"/>
            <a:ext cx="276148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01568" y="1691640"/>
            <a:ext cx="2487168" cy="2743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01568" y="169164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IN PLANNING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20391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PHASE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2404872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Q1-Q2 2026
State Rollout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01568" y="2898648"/>
            <a:ext cx="2487168" cy="22860"/>
          </a:xfrm>
          <a:prstGeom prst="rect">
            <a:avLst/>
          </a:prstGeom>
          <a:solidFill>
            <a:srgbClr val="1E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1568" y="3017520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Aadhaar eKYC + DigiLocker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1568" y="3675888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WhatsApp bot + IVRS voice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01568" y="43342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5 state government partnerships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499262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Predictive AI budget planning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5650992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500K active users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08776" y="1600200"/>
            <a:ext cx="2761488" cy="4892040"/>
          </a:xfrm>
          <a:prstGeom prst="roundRect">
            <a:avLst/>
          </a:prstGeom>
          <a:solidFill>
            <a:srgbClr val="0C1733"/>
          </a:solidFill>
          <a:ln w="1905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08776" y="1600200"/>
            <a:ext cx="2761488" cy="64008"/>
          </a:xfrm>
          <a:prstGeom prst="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345936" y="1691640"/>
            <a:ext cx="2487168" cy="274320"/>
          </a:xfrm>
          <a:prstGeom prst="roundRect">
            <a:avLst/>
          </a:prstGeom>
          <a:solidFill>
            <a:srgbClr val="00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5936" y="169164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5936" y="20391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D88"/>
                </a:solidFill>
              </a:rPr>
              <a:t>PHASE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2404872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Q3-Q4 2026
National Scale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45936" y="2898648"/>
            <a:ext cx="2487168" cy="22860"/>
          </a:xfrm>
          <a:prstGeom prst="rect">
            <a:avLst/>
          </a:prstGeom>
          <a:solidFill>
            <a:srgbClr val="1E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3017520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All 28 states + Union Territories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45936" y="3675888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Integration with NIC / CPGRAMS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45936" y="43342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10M+ concurrent users (Cloud)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45936" y="499262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Autonomous complaint resolution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45936" y="5650992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Parliament data analytics API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53144" y="1600200"/>
            <a:ext cx="2761488" cy="4892040"/>
          </a:xfrm>
          <a:prstGeom prst="roundRect">
            <a:avLst/>
          </a:prstGeom>
          <a:solidFill>
            <a:srgbClr val="0C1733"/>
          </a:solidFill>
          <a:ln w="1905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3144" y="1600200"/>
            <a:ext cx="2761488" cy="64008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290304" y="1691640"/>
            <a:ext cx="2487168" cy="274320"/>
          </a:xfrm>
          <a:prstGeom prst="round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90304" y="1691640"/>
            <a:ext cx="2487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VISION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0304" y="2039112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44FF"/>
                </a:solidFill>
              </a:rPr>
              <a:t>PHASE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90304" y="2404872"/>
            <a:ext cx="2487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BB"/>
                </a:solidFill>
              </a:rPr>
              <a:t>2027-2028
AI Governance 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90304" y="2898648"/>
            <a:ext cx="2487168" cy="22860"/>
          </a:xfrm>
          <a:prstGeom prst="rect">
            <a:avLst/>
          </a:prstGeom>
          <a:solidFill>
            <a:srgbClr val="1E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0304" y="3017520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Predictive infrastructure planning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0304" y="3675888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AI-driven policy recommendations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0304" y="43342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Global export: 20+ countries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90304" y="499262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India Stack deep integration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90304" y="5650992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DEAFF"/>
                </a:solidFill>
              </a:rPr>
              <a:t>  1.4B citizens fully served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20040" y="6537960"/>
            <a:ext cx="11551615" cy="201168"/>
          </a:xfrm>
          <a:prstGeom prst="roundRect">
            <a:avLst/>
          </a:prstGeom>
          <a:solidFill>
            <a:srgbClr val="080425"/>
          </a:solidFill>
          <a:ln w="12700">
            <a:solidFill>
              <a:srgbClr val="884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6556248"/>
            <a:ext cx="1118585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44FF"/>
                </a:solidFill>
              </a:rPr>
              <a:t>Vision 2028: JanMitra AI as the intelligent citizen interface for all of India Stack â€” 1.4 billion users on Google Cloud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54864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144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62495" y="9144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7890BB"/>
                </a:solidFill>
              </a:rPr>
              <a:t>Google Cloud x Build with AI : Code for Communities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14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02920"/>
            <a:ext cx="2286000" cy="274320"/>
          </a:xfrm>
          <a:prstGeom prst="round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39496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COMPETITIVE ADVANTAGE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82296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Why JanMitra AI Wins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898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890BB"/>
                </a:solidFill>
              </a:rPr>
              <a:t>Feature-by-feature comparison with every existing 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00200"/>
            <a:ext cx="3474720" cy="411480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82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Capability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94760" y="1600200"/>
            <a:ext cx="1874519" cy="41148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682496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</a:rPr>
              <a:t>JanMitra 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79" y="1600200"/>
            <a:ext cx="1874519" cy="411480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19" y="1682496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CPGRAMS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43798" y="1600200"/>
            <a:ext cx="1874519" cy="411480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38" y="1682496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Manual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17" y="1600200"/>
            <a:ext cx="1874519" cy="411480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57" y="1682496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Other Apps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011680"/>
            <a:ext cx="3474720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209397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AI NLP Classification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011680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209397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Gemini 1.5 Pro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79" y="2011680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19" y="209397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9007" y="209397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798" y="2011680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38" y="209397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6" y="209397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17" y="2011680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57" y="209397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Basic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28045" y="209397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414016"/>
            <a:ext cx="3474720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249631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Voice Filing (12+ languages)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94760" y="2414016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86200" y="249631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Whisper + Gemini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79" y="2414016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19" y="249631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9007" y="2496312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798" y="2414016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38" y="249631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53526" y="2496312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17" y="2414016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09757" y="249631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8045" y="2496312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2816352"/>
            <a:ext cx="3474720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289864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RAG Scheme Discovery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794760" y="2816352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86200" y="289864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Qdrant + Gemini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2816352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19" y="289864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79007" y="2898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43798" y="2816352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35238" y="289864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53526" y="2898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418317" y="2816352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09757" y="289864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528045" y="2898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3218688"/>
            <a:ext cx="3474720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1480" y="330098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MP Analytics Dashboard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794760" y="3218688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86200" y="330098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Real-Time AI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79" y="3218688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60719" y="330098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Basic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779007" y="330098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43798" y="3218688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635238" y="330098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53526" y="330098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18317" y="3218688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09757" y="330098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528045" y="330098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3621024"/>
            <a:ext cx="3474720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370332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Geo Complaint Heatmaps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794760" y="3621024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86200" y="370332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Maps + AI Cluster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79" y="3621024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19" y="370332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79007" y="3703320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43798" y="3621024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635238" y="370332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653526" y="3703320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18317" y="3621024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09757" y="370332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Limited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28045" y="3703320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4023360"/>
            <a:ext cx="3474720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11480" y="4105656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Document AI / OCR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794760" y="4023360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86200" y="410565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Cloud Vision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79" y="4023360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760719" y="410565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779007" y="410565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43798" y="4023360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635238" y="410565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53526" y="410565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418317" y="4023360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509757" y="4105656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Limited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28045" y="4105656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4425696"/>
            <a:ext cx="3474720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11480" y="450799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WhatsApp Notifications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794760" y="4425696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886200" y="450799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Full Integration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669279" y="4425696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760719" y="450799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Email Only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779007" y="4507992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543798" y="4425696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635238" y="450799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None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653526" y="4507992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418317" y="4425696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509757" y="4507992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Limited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528045" y="4507992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20040" y="4828032"/>
            <a:ext cx="3474720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1480" y="4910328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Data Sovereignty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794760" y="4828032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886200" y="491032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Indian Region GCP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669279" y="4828032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760719" y="491032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00"/>
                </a:solidFill>
              </a:rPr>
              <a:t>Cloud Mix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79007" y="491032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C00"/>
                </a:solidFill>
              </a:rPr>
              <a:t>~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543798" y="4828032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635238" y="491032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Paper Files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53526" y="491032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418317" y="4828032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09757" y="4910328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C00"/>
                </a:solidFill>
              </a:rPr>
              <a:t>Unknown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528045" y="491032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C00"/>
                </a:solidFill>
              </a:rPr>
              <a:t>~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20040" y="5230368"/>
            <a:ext cx="3474720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11480" y="5312664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Auto-Scaling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794760" y="5230368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3886200" y="531266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Cloud Run GCP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669279" y="5230368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760719" y="531266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Fixed Server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779007" y="531266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43798" y="5230368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635238" y="531266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Manual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653526" y="531266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418317" y="5230368"/>
            <a:ext cx="1874519" cy="384048"/>
          </a:xfrm>
          <a:prstGeom prst="rect">
            <a:avLst/>
          </a:prstGeom>
          <a:solidFill>
            <a:srgbClr val="0C1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09757" y="5312664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Limited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528045" y="5312664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0040" y="5632704"/>
            <a:ext cx="3474720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11480" y="5715000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AFF"/>
                </a:solidFill>
              </a:rPr>
              <a:t>Open Source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94760" y="5632704"/>
            <a:ext cx="1874519" cy="384048"/>
          </a:xfrm>
          <a:prstGeom prst="rect">
            <a:avLst/>
          </a:prstGeom>
          <a:solidFill>
            <a:srgbClr val="002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886200" y="571500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D88"/>
                </a:solidFill>
              </a:rPr>
              <a:t>Yes - GitHub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669279" y="5632704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760719" y="571500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Proprietary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779007" y="5715000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543798" y="5632704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635238" y="571500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N/A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653526" y="5715000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418317" y="5632704"/>
            <a:ext cx="1874519" cy="384048"/>
          </a:xfrm>
          <a:prstGeom prst="rect">
            <a:avLst/>
          </a:prstGeom>
          <a:solidFill>
            <a:srgbClr val="081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509757" y="5715000"/>
            <a:ext cx="16916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3355"/>
                </a:solidFill>
              </a:rPr>
              <a:t>Paid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528045" y="5715000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355"/>
                </a:solidFill>
              </a:rPr>
              <a:t>x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20040" y="5943600"/>
            <a:ext cx="11551615" cy="594360"/>
          </a:xfrm>
          <a:prstGeom prst="roundRect">
            <a:avLst/>
          </a:prstGeom>
          <a:solidFill>
            <a:srgbClr val="0C1733"/>
          </a:solidFill>
          <a:ln w="1905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02920" y="6016752"/>
            <a:ext cx="1118585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D88"/>
                </a:solidFill>
              </a:rPr>
              <a:t>JanMitra AI is the ONLY platform with: Google Gemini AI  +  Voice (12 languages)  +  RAG Schemes  +  MP Dashboard  +  Geo Maps  +  Cloud-Native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9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9" cy="64008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780215" y="0"/>
            <a:ext cx="411480" cy="6858000"/>
          </a:xfrm>
          <a:prstGeom prst="rect">
            <a:avLst/>
          </a:prstGeom>
          <a:solidFill>
            <a:srgbClr val="88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457200"/>
            <a:ext cx="10972800" cy="6080760"/>
          </a:xfrm>
          <a:prstGeom prst="roundRect">
            <a:avLst/>
          </a:prstGeom>
          <a:solidFill>
            <a:srgbClr val="102042"/>
          </a:solidFill>
          <a:ln w="12700">
            <a:solidFill>
              <a:srgbClr val="1E3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914400"/>
            <a:ext cx="2743200" cy="2743200"/>
          </a:xfrm>
          <a:prstGeom prst="ellipse">
            <a:avLst/>
          </a:prstGeom>
          <a:solidFill>
            <a:srgbClr val="00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0" y="3108960"/>
            <a:ext cx="2011680" cy="2011680"/>
          </a:xfrm>
          <a:prstGeom prst="ellipse">
            <a:avLst/>
          </a:prstGeom>
          <a:solidFill>
            <a:srgbClr val="00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72600" y="685800"/>
            <a:ext cx="1371600" cy="1371600"/>
          </a:xfrm>
          <a:prstGeom prst="ellipse">
            <a:avLst/>
          </a:prstGeom>
          <a:solidFill>
            <a:srgbClr val="001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627632"/>
            <a:ext cx="3931920" cy="45720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37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00D4FF"/>
                </a:solidFill>
              </a:rPr>
              <a:t>Governance Powered by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890BB"/>
                </a:solidFill>
              </a:rPr>
              <a:t>One Nation.  One Platform.  One AI.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880360"/>
            <a:ext cx="6675120" cy="22860"/>
          </a:xfrm>
          <a:prstGeom prst="rect">
            <a:avLst/>
          </a:prstGeom>
          <a:solidFill>
            <a:srgbClr val="1E3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063240"/>
            <a:ext cx="3246120" cy="77724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906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5FF"/>
                </a:solidFill>
              </a:rPr>
              <a:t>1.4B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456432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Citizens Ready to Serve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063240"/>
            <a:ext cx="3246120" cy="77724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0906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456432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Gemini AI 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80" y="3063240"/>
            <a:ext cx="3246120" cy="777240"/>
          </a:xfrm>
          <a:prstGeom prst="roundRect">
            <a:avLst/>
          </a:prstGeom>
          <a:solidFill>
            <a:srgbClr val="0C1733"/>
          </a:solidFill>
          <a:ln w="15240">
            <a:solidFill>
              <a:srgbClr val="00DD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309067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D88"/>
                </a:solidFill>
              </a:rPr>
              <a:t>&lt; 6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2" y="3456432"/>
            <a:ext cx="30998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890BB"/>
                </a:solidFill>
              </a:rPr>
              <a:t>Avg Resolution 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3977639"/>
            <a:ext cx="3246120" cy="45720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1E3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03250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890BB"/>
                </a:solidFill>
              </a:rPr>
              <a:t>[GITHUB]  github.com/janmitra-ai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977639"/>
            <a:ext cx="3246120" cy="45720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1E3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03250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</a:rPr>
              <a:t>[DEMO]  janmitra.ai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3977639"/>
            <a:ext cx="3246120" cy="457200"/>
          </a:xfrm>
          <a:prstGeom prst="roundRect">
            <a:avLst/>
          </a:prstGeom>
          <a:solidFill>
            <a:srgbClr val="0C1733"/>
          </a:solidFill>
          <a:ln w="12700">
            <a:solidFill>
              <a:srgbClr val="1E3E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032504"/>
            <a:ext cx="3063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85FF"/>
                </a:solidFill>
              </a:rPr>
              <a:t>[MAIL]  team@janmitra.ai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4617720"/>
            <a:ext cx="2221992" cy="1417320"/>
          </a:xfrm>
          <a:prstGeom prst="roundRect">
            <a:avLst/>
          </a:prstGeom>
          <a:solidFill>
            <a:srgbClr val="0C1733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83480" y="4663440"/>
            <a:ext cx="2221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FF"/>
                </a:solidFill>
              </a:rPr>
              <a:t>[QR CODE]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5138928"/>
            <a:ext cx="2221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7890BB"/>
                </a:solidFill>
              </a:rPr>
              <a:t>Scan to open live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5422392"/>
            <a:ext cx="2221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FF"/>
                </a:solidFill>
              </a:rPr>
              <a:t>janmitra.ai/demo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14476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3A4A6B"/>
                </a:solidFill>
              </a:rPr>
              <a:t>Built for Google Cloud  |  Powered by Gemini  |  Made for Bharat  |  Ready for the World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008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02975" y="64922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3A4A6B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